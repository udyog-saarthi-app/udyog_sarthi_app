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0"/>
  </p:notesMasterIdLst>
  <p:sldIdLst>
    <p:sldId id="256" r:id="rId5"/>
    <p:sldId id="269" r:id="rId6"/>
    <p:sldId id="257" r:id="rId7"/>
    <p:sldId id="275" r:id="rId8"/>
    <p:sldId id="276" r:id="rId9"/>
    <p:sldId id="278" r:id="rId10"/>
    <p:sldId id="279" r:id="rId11"/>
    <p:sldId id="280" r:id="rId12"/>
    <p:sldId id="268" r:id="rId13"/>
    <p:sldId id="277" r:id="rId14"/>
    <p:sldId id="281" r:id="rId15"/>
    <p:sldId id="282" r:id="rId16"/>
    <p:sldId id="283" r:id="rId17"/>
    <p:sldId id="284"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58" y="6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Udyog-Saarthi-App/Udyog_Sarthi_Ap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UDYOG SAARTHI APP (PROGRESSIVE WEB-BASED APPLICATION)</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CSG_7</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Lakshmisha  S. K</a:t>
            </a: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4096760371"/>
              </p:ext>
            </p:extLst>
          </p:nvPr>
        </p:nvGraphicFramePr>
        <p:xfrm>
          <a:off x="553347" y="2721839"/>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26035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60350">
                <a:tc>
                  <a:txBody>
                    <a:bodyPr/>
                    <a:lstStyle/>
                    <a:p>
                      <a:pPr marL="0" marR="0" lvl="0" indent="0" algn="ctr" rtl="0">
                        <a:spcBef>
                          <a:spcPts val="0"/>
                        </a:spcBef>
                        <a:spcAft>
                          <a:spcPts val="0"/>
                        </a:spcAft>
                        <a:buFont typeface="+mj-lt"/>
                        <a:buNone/>
                      </a:pPr>
                      <a:r>
                        <a:rPr lang="en-US" sz="1800" u="none" strike="noStrike" cap="none" dirty="0"/>
                        <a:t>20221CSG0126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SWAYAMPRABHA B 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60350">
                <a:tc>
                  <a:txBody>
                    <a:bodyPr/>
                    <a:lstStyle/>
                    <a:p>
                      <a:pPr marL="0" marR="0" lvl="0" indent="0" algn="ctr" rtl="0">
                        <a:spcBef>
                          <a:spcPts val="0"/>
                        </a:spcBef>
                        <a:spcAft>
                          <a:spcPts val="0"/>
                        </a:spcAft>
                        <a:buNone/>
                      </a:pPr>
                      <a:r>
                        <a:rPr lang="en-US" sz="1800" u="none" strike="noStrike" cap="none" dirty="0"/>
                        <a:t>20221CSG0146</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HITHA R 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60350">
                <a:tc>
                  <a:txBody>
                    <a:bodyPr/>
                    <a:lstStyle/>
                    <a:p>
                      <a:pPr marL="0" marR="0" lvl="0" indent="0" algn="ctr" rtl="0">
                        <a:spcBef>
                          <a:spcPts val="0"/>
                        </a:spcBef>
                        <a:spcAft>
                          <a:spcPts val="0"/>
                        </a:spcAft>
                        <a:buNone/>
                      </a:pPr>
                      <a:r>
                        <a:rPr lang="en-US" sz="1800" u="none" strike="noStrike" cap="none" dirty="0"/>
                        <a:t>20221CSG0158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ANKITHA M R </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6035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6035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9432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Technology</a:t>
            </a:r>
            <a:endParaRPr lang="en-US" sz="1800"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dirty="0">
                <a:latin typeface="Cambria" panose="02040503050406030204" pitchFamily="18" charset="0"/>
                <a:ea typeface="Cambria" panose="02040503050406030204" pitchFamily="18" charset="0"/>
              </a:rPr>
              <a:t>Dr. Saira Banu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dirty="0">
                <a:latin typeface="Cambria" panose="02040503050406030204" pitchFamily="18" charset="0"/>
                <a:ea typeface="Cambria" panose="02040503050406030204" pitchFamily="18" charset="0"/>
              </a:rPr>
              <a:t>Dr. H M Manjula</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PSCS_39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30969"/>
            <a:ext cx="10668000" cy="4953000"/>
          </a:xfrm>
          <a:prstGeom prst="rect">
            <a:avLst/>
          </a:prstGeom>
          <a:noFill/>
          <a:ln>
            <a:noFill/>
          </a:ln>
        </p:spPr>
        <p:txBody>
          <a:bodyPr spcFirstLastPara="1" wrap="square" lIns="91425" tIns="45700" rIns="91425" bIns="45700" anchor="t" anchorCtr="0">
            <a:noAutofit/>
          </a:bodyPr>
          <a:lstStyle/>
          <a:p>
            <a:pPr marL="342900" indent="-190500" algn="just">
              <a:spcBef>
                <a:spcPts val="0"/>
              </a:spcBef>
              <a:buNone/>
            </a:pPr>
            <a:r>
              <a:rPr lang="en-US" sz="1800" dirty="0">
                <a:latin typeface="Cambria" panose="02040503050406030204" pitchFamily="18" charset="0"/>
                <a:ea typeface="Cambria" panose="02040503050406030204" pitchFamily="18" charset="0"/>
              </a:rPr>
              <a:t>Organization: Ministry of Social Justice and Empowerment</a:t>
            </a:r>
          </a:p>
          <a:p>
            <a:pPr marL="342900" lvl="0" indent="-190500" algn="just">
              <a:lnSpc>
                <a:spcPct val="200000"/>
              </a:lnSpc>
              <a:spcBef>
                <a:spcPts val="0"/>
              </a:spcBef>
              <a:buNone/>
            </a:pPr>
            <a:r>
              <a:rPr lang="en-US" sz="1800" dirty="0">
                <a:latin typeface="Cambria" panose="02040503050406030204" pitchFamily="18" charset="0"/>
                <a:ea typeface="Cambria" panose="02040503050406030204" pitchFamily="18" charset="0"/>
              </a:rPr>
              <a:t>Category (Hardware / Software / Both) : Software</a:t>
            </a:r>
          </a:p>
          <a:p>
            <a:pPr marL="342900" indent="-190500" algn="just">
              <a:lnSpc>
                <a:spcPct val="200000"/>
              </a:lnSpc>
              <a:spcBef>
                <a:spcPts val="0"/>
              </a:spcBef>
              <a:buNone/>
            </a:pPr>
            <a:r>
              <a:rPr lang="en-US" sz="1800" dirty="0">
                <a:latin typeface="Cambria" panose="02040503050406030204" pitchFamily="18" charset="0"/>
                <a:ea typeface="Cambria" panose="02040503050406030204" pitchFamily="18" charset="0"/>
              </a:rPr>
              <a:t>Problem Description: Despite progress in accessibility, education, and skills training, persons with disabilities (PwDs) in India still face major employment challenges. Nearly </a:t>
            </a:r>
            <a:r>
              <a:rPr lang="en-US" sz="1800" b="1" dirty="0">
                <a:latin typeface="Cambria" panose="02040503050406030204" pitchFamily="18" charset="0"/>
                <a:ea typeface="Cambria" panose="02040503050406030204" pitchFamily="18" charset="0"/>
              </a:rPr>
              <a:t>64% remain unemployed</a:t>
            </a:r>
            <a:r>
              <a:rPr lang="en-US" sz="1800" dirty="0">
                <a:latin typeface="Cambria" panose="02040503050406030204" pitchFamily="18" charset="0"/>
                <a:ea typeface="Cambria" panose="02040503050406030204" pitchFamily="18" charset="0"/>
              </a:rPr>
              <a:t>, with many under the 4% reservation categories (Intellectual Disability, Autism Spectrum Disorder, Multiple Disabilities, Mental Illness, and Learning Disabilities) lacking access to job notifications and coaching support. Limited awareness, inaccessible platforms, and low parental literacy further hinder applications, leaving reserved positions unfilled. There is a strong need for a </a:t>
            </a:r>
            <a:r>
              <a:rPr lang="en-US" sz="1800" b="1" dirty="0">
                <a:latin typeface="Cambria" panose="02040503050406030204" pitchFamily="18" charset="0"/>
                <a:ea typeface="Cambria" panose="02040503050406030204" pitchFamily="18" charset="0"/>
              </a:rPr>
              <a:t>curated, accessible, and simplified digital platform</a:t>
            </a:r>
            <a:r>
              <a:rPr lang="en-US" sz="1800" dirty="0">
                <a:latin typeface="Cambria" panose="02040503050406030204" pitchFamily="18" charset="0"/>
                <a:ea typeface="Cambria" panose="02040503050406030204" pitchFamily="18" charset="0"/>
              </a:rPr>
              <a:t> that informs, trains, and empowers PwDs to secure dignified employment and ensure effective implementation of the </a:t>
            </a:r>
            <a:r>
              <a:rPr lang="en-US" sz="1800" b="1" dirty="0">
                <a:latin typeface="Cambria" panose="02040503050406030204" pitchFamily="18" charset="0"/>
                <a:ea typeface="Cambria" panose="02040503050406030204" pitchFamily="18" charset="0"/>
              </a:rPr>
              <a:t>Rights of Persons with Disabilities Act, 2016</a:t>
            </a:r>
            <a:r>
              <a:rPr lang="en-US" sz="1800" dirty="0">
                <a:latin typeface="Cambria" panose="02040503050406030204" pitchFamily="18" charset="0"/>
                <a:ea typeface="Cambria" panose="02040503050406030204" pitchFamily="18" charset="0"/>
              </a:rPr>
              <a:t>.</a:t>
            </a:r>
          </a:p>
          <a:p>
            <a:pPr marL="342900" lvl="0" indent="-190500" algn="just">
              <a:lnSpc>
                <a:spcPct val="200000"/>
              </a:lnSpc>
              <a:spcBef>
                <a:spcPts val="0"/>
              </a:spcBef>
              <a:buNone/>
            </a:pPr>
            <a:endParaRPr lang="en-US"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373508"/>
            <a:ext cx="10668000" cy="392429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18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1800" dirty="0" err="1">
                <a:latin typeface="Cambria" panose="02040503050406030204" pitchFamily="18" charset="0"/>
                <a:ea typeface="Cambria" panose="02040503050406030204" pitchFamily="18" charset="0"/>
              </a:rPr>
              <a:t>Git</a:t>
            </a:r>
            <a:r>
              <a:rPr lang="en-US" sz="1800"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1800" dirty="0">
                <a:latin typeface="Cambria" panose="02040503050406030204" pitchFamily="18" charset="0"/>
                <a:ea typeface="Cambria" panose="02040503050406030204" pitchFamily="18" charset="0"/>
              </a:rPr>
              <a:t>References</a:t>
            </a:r>
            <a:endParaRPr sz="18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Text Placeholder 2"/>
          <p:cNvSpPr>
            <a:spLocks noGrp="1"/>
          </p:cNvSpPr>
          <p:nvPr>
            <p:ph type="body" idx="1"/>
          </p:nvPr>
        </p:nvSpPr>
        <p:spPr/>
        <p:txBody>
          <a:bodyPr>
            <a:normAutofit/>
          </a:bodyPr>
          <a:lstStyle/>
          <a:p>
            <a:pPr marL="76200" indent="0">
              <a:buNone/>
            </a:pPr>
            <a:r>
              <a:rPr dirty="0">
                <a:latin typeface="Cambria" panose="02040503050406030204" pitchFamily="18" charset="0"/>
                <a:ea typeface="Cambria" panose="02040503050406030204" pitchFamily="18" charset="0"/>
              </a:rPr>
              <a:t>Persons with disabilities in our country, despite the progress happening on accessibility, education, skills development, and employment, still face many challenges, especially in the employment phase of life that promotes inclusion in the family and society. Enhancing vocational training and employment prospects for people with disabilities is essential and there are efforts happening at the National level. As per the recent survey, about 64% of persons with disabilities in India are not into employment. They require a curated and accessible content with adaptations to specifically inform them of the job and details in simple language, with requirement information to apply, know the coaching facilities available and get trained to apply. This results in many jobs published not being applied for, or the right candidates not getting placements. The project aims to address this problem with a Progressive Web-based Application to support PwDs.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idx="1"/>
          </p:nvPr>
        </p:nvSpPr>
        <p:spPr/>
        <p:txBody>
          <a:bodyPr>
            <a:normAutofit/>
          </a:bodyPr>
          <a:lstStyle/>
          <a:p>
            <a:r>
              <a:rPr dirty="0">
                <a:latin typeface="Cambria" panose="02040503050406030204" pitchFamily="18" charset="0"/>
                <a:ea typeface="Cambria" panose="02040503050406030204" pitchFamily="18" charset="0"/>
              </a:rPr>
              <a:t>Provide accessible job-related information to PwDs</a:t>
            </a:r>
          </a:p>
          <a:p>
            <a:r>
              <a:rPr dirty="0">
                <a:latin typeface="Cambria" panose="02040503050406030204" pitchFamily="18" charset="0"/>
                <a:ea typeface="Cambria" panose="02040503050406030204" pitchFamily="18" charset="0"/>
              </a:rPr>
              <a:t>Enhance employability skills through coaching</a:t>
            </a:r>
          </a:p>
          <a:p>
            <a:r>
              <a:rPr dirty="0">
                <a:latin typeface="Cambria" panose="02040503050406030204" pitchFamily="18" charset="0"/>
                <a:ea typeface="Cambria" panose="02040503050406030204" pitchFamily="18" charset="0"/>
              </a:rPr>
              <a:t>Increase awareness about 4% job reservation opportunities</a:t>
            </a:r>
          </a:p>
          <a:p>
            <a:r>
              <a:rPr dirty="0">
                <a:latin typeface="Cambria" panose="02040503050406030204" pitchFamily="18" charset="0"/>
                <a:ea typeface="Cambria" panose="02040503050406030204" pitchFamily="18" charset="0"/>
              </a:rPr>
              <a:t>Improve inclusion and literacy on job application processes</a:t>
            </a:r>
          </a:p>
          <a:p>
            <a:r>
              <a:rPr dirty="0">
                <a:latin typeface="Cambria" panose="02040503050406030204" pitchFamily="18" charset="0"/>
                <a:ea typeface="Cambria" panose="02040503050406030204" pitchFamily="18" charset="0"/>
              </a:rPr>
              <a:t>Bridge the gap between employment opportunities and PwDs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&amp; Related Work</a:t>
            </a:r>
          </a:p>
        </p:txBody>
      </p:sp>
      <p:sp>
        <p:nvSpPr>
          <p:cNvPr id="3" name="Text Placeholder 2"/>
          <p:cNvSpPr>
            <a:spLocks noGrp="1"/>
          </p:cNvSpPr>
          <p:nvPr>
            <p:ph type="body" idx="1"/>
          </p:nvPr>
        </p:nvSpPr>
        <p:spPr/>
        <p:txBody>
          <a:bodyPr>
            <a:normAutofit/>
          </a:bodyPr>
          <a:lstStyle/>
          <a:p>
            <a:pPr marL="76200" indent="0">
              <a:buNone/>
            </a:pPr>
            <a:r>
              <a:rPr dirty="0">
                <a:latin typeface="Cambria" panose="02040503050406030204" pitchFamily="18" charset="0"/>
                <a:ea typeface="Cambria" panose="02040503050406030204" pitchFamily="18" charset="0"/>
              </a:rPr>
              <a:t>Persons with Disabilities (PwDs) often face barriers in education and employment due to lack of accessibility, awareness, and proper guidance. Studies and reports highlight that nearly 64% of PwDs in India remain unemployed despite reservation policies. Existing platforms and services provide fragmented or inaccessible information, making it difficult for PwDs to identify opportunities. Research indicates the need for inclusive digital platforms with simplified language, curated job information, and coaching support to enhance employability of PwDs.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Analysis of Problem Statement</a:t>
            </a:r>
          </a:p>
        </p:txBody>
      </p:sp>
      <p:sp>
        <p:nvSpPr>
          <p:cNvPr id="3" name="Text Placeholder 2"/>
          <p:cNvSpPr>
            <a:spLocks noGrp="1"/>
          </p:cNvSpPr>
          <p:nvPr>
            <p:ph type="body" idx="1"/>
          </p:nvPr>
        </p:nvSpPr>
        <p:spPr>
          <a:xfrm>
            <a:off x="530091" y="1063489"/>
            <a:ext cx="11282017" cy="4953000"/>
          </a:xfrm>
        </p:spPr>
        <p:txBody>
          <a:bodyPr>
            <a:normAutofit fontScale="92500" lnSpcReduction="20000"/>
          </a:bodyPr>
          <a:lstStyle/>
          <a:p>
            <a:pPr marL="76200" indent="0">
              <a:buNone/>
            </a:pPr>
            <a:r>
              <a:rPr sz="1900" dirty="0">
                <a:latin typeface="Cambria" panose="02040503050406030204" pitchFamily="18" charset="0"/>
                <a:ea typeface="Cambria" panose="02040503050406030204" pitchFamily="18" charset="0"/>
              </a:rPr>
              <a:t>The key issues identified:</a:t>
            </a:r>
            <a:endParaRPr lang="en-US" sz="1900" dirty="0">
              <a:latin typeface="Cambria" panose="02040503050406030204" pitchFamily="18" charset="0"/>
              <a:ea typeface="Cambria" panose="02040503050406030204" pitchFamily="18" charset="0"/>
            </a:endParaRPr>
          </a:p>
          <a:p>
            <a:r>
              <a:rPr lang="en-US" sz="1900" dirty="0">
                <a:latin typeface="Cambria" panose="02040503050406030204" pitchFamily="18" charset="0"/>
                <a:ea typeface="Cambria" panose="02040503050406030204" pitchFamily="18" charset="0"/>
              </a:rPr>
              <a:t>Limited Accessibility of Information:</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cs typeface="Calibri" panose="020F0502020204030204" pitchFamily="34" charset="0"/>
              </a:rPr>
              <a:t>Existing job portals are not fully accessible (lack of screen reader support, complicated interfaces).</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cs typeface="Calibri" panose="020F0502020204030204" pitchFamily="34" charset="0"/>
              </a:rPr>
              <a:t>PwDs often struggle to find job notifications in a simplified and understandable format.</a:t>
            </a:r>
            <a:endParaRPr sz="1900" dirty="0">
              <a:latin typeface="Cambria" panose="02040503050406030204" pitchFamily="18" charset="0"/>
              <a:ea typeface="Cambria" panose="02040503050406030204" pitchFamily="18" charset="0"/>
            </a:endParaRPr>
          </a:p>
          <a:p>
            <a:r>
              <a:rPr lang="en-US" sz="1900" dirty="0">
                <a:latin typeface="Cambria" panose="02040503050406030204" pitchFamily="18" charset="0"/>
                <a:ea typeface="Cambria" panose="02040503050406030204" pitchFamily="18" charset="0"/>
              </a:rPr>
              <a:t>Low Awareness of Reservation Opportunities</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Many PwDs and their families are unaware of the </a:t>
            </a:r>
            <a:r>
              <a:rPr lang="en-US" sz="1900" b="1" dirty="0">
                <a:latin typeface="Cambria" panose="02040503050406030204" pitchFamily="18" charset="0"/>
                <a:ea typeface="Cambria" panose="02040503050406030204" pitchFamily="18" charset="0"/>
              </a:rPr>
              <a:t>4% job reservation policy</a:t>
            </a:r>
            <a:r>
              <a:rPr lang="en-US" sz="1900" dirty="0">
                <a:latin typeface="Cambria" panose="02040503050406030204" pitchFamily="18" charset="0"/>
                <a:ea typeface="Cambria" panose="02040503050406030204" pitchFamily="18" charset="0"/>
              </a:rPr>
              <a:t> under the </a:t>
            </a:r>
            <a:r>
              <a:rPr lang="en-US" sz="1900" dirty="0" err="1">
                <a:latin typeface="Cambria" panose="02040503050406030204" pitchFamily="18" charset="0"/>
                <a:ea typeface="Cambria" panose="02040503050406030204" pitchFamily="18" charset="0"/>
              </a:rPr>
              <a:t>RPwD</a:t>
            </a:r>
            <a:r>
              <a:rPr lang="en-US" sz="1900" dirty="0">
                <a:latin typeface="Cambria" panose="02040503050406030204" pitchFamily="18" charset="0"/>
                <a:ea typeface="Cambria" panose="02040503050406030204" pitchFamily="18" charset="0"/>
              </a:rPr>
              <a:t> Act, 2016.</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This leads to unutilized job openings.</a:t>
            </a:r>
          </a:p>
          <a:p>
            <a:r>
              <a:rPr lang="en-US" sz="1900" dirty="0">
                <a:latin typeface="Cambria" panose="02040503050406030204" pitchFamily="18" charset="0"/>
                <a:ea typeface="Cambria" panose="02040503050406030204" pitchFamily="18" charset="0"/>
              </a:rPr>
              <a:t>Low Literacy and Digital Divide</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Families of PwDs often face literacy barriers, making it harder to navigate existing portals.</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Digital inclusion is poor, particularly in rural and semi-urban areas.</a:t>
            </a:r>
          </a:p>
          <a:p>
            <a:r>
              <a:rPr lang="en-US" sz="1900" dirty="0">
                <a:latin typeface="Cambria" panose="02040503050406030204" pitchFamily="18" charset="0"/>
                <a:ea typeface="Cambria" panose="02040503050406030204" pitchFamily="18" charset="0"/>
              </a:rPr>
              <a:t>Employment Gaps Despite Reservation</a:t>
            </a:r>
          </a:p>
          <a:p>
            <a:pPr marL="838326" lvl="1" indent="-342900" defTabSz="379475">
              <a:spcBef>
                <a:spcPts val="900"/>
              </a:spcBef>
              <a:buClrTx/>
              <a:buSzPct val="100000"/>
              <a:buFont typeface="+mj-lt"/>
              <a:buAutoNum type="arabicPeriod"/>
              <a:defRPr sz="996">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Even when jobs are available, candidates may not apply due to lack of awareness or proper preparation.</a:t>
            </a:r>
          </a:p>
          <a:p>
            <a:pPr marL="838326" lvl="1" indent="-342900" defTabSz="379475">
              <a:spcBef>
                <a:spcPts val="900"/>
              </a:spcBef>
              <a:buClrTx/>
              <a:buSzPct val="100000"/>
              <a:buFont typeface="+mj-lt"/>
              <a:buAutoNum type="arabicPeriod"/>
              <a:defRPr sz="996" b="1">
                <a:latin typeface="Times Roman"/>
                <a:ea typeface="Times Roman"/>
                <a:cs typeface="Times Roman"/>
                <a:sym typeface="Times Roman"/>
              </a:defRPr>
            </a:pPr>
            <a:r>
              <a:rPr lang="en-US" sz="1900" dirty="0">
                <a:latin typeface="Cambria" panose="02040503050406030204" pitchFamily="18" charset="0"/>
                <a:ea typeface="Cambria" panose="02040503050406030204" pitchFamily="18" charset="0"/>
              </a:rPr>
              <a:t>This results in reserved positions going unfilled and PwDs remaining unemployed.</a:t>
            </a:r>
          </a:p>
          <a:p>
            <a:pPr marL="76200" indent="0">
              <a:buNone/>
            </a:pPr>
            <a:br>
              <a:rPr lang="en-US" sz="20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The Udyog Saarthi App addresses these issues through a Progressive Web App that simplifies the job search, coaching, and application process for PwDs.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Innovation / Novel Contributions</a:t>
            </a:r>
          </a:p>
        </p:txBody>
      </p:sp>
      <p:sp>
        <p:nvSpPr>
          <p:cNvPr id="3" name="Text Placeholder 2"/>
          <p:cNvSpPr>
            <a:spLocks noGrp="1"/>
          </p:cNvSpPr>
          <p:nvPr>
            <p:ph type="body" idx="1"/>
          </p:nvPr>
        </p:nvSpPr>
        <p:spPr/>
        <p:txBody>
          <a:bodyPr/>
          <a:lstStyle/>
          <a:p>
            <a:r>
              <a:rPr dirty="0">
                <a:latin typeface="Cambria" panose="02040503050406030204" pitchFamily="18" charset="0"/>
                <a:ea typeface="Cambria" panose="02040503050406030204" pitchFamily="18" charset="0"/>
              </a:rPr>
              <a:t>Progressive Web App accessible across devices with low data usage</a:t>
            </a:r>
          </a:p>
          <a:p>
            <a:r>
              <a:rPr dirty="0">
                <a:latin typeface="Cambria" panose="02040503050406030204" pitchFamily="18" charset="0"/>
                <a:ea typeface="Cambria" panose="02040503050406030204" pitchFamily="18" charset="0"/>
              </a:rPr>
              <a:t>Simplified UI/UX design tailored for PwDs</a:t>
            </a:r>
          </a:p>
          <a:p>
            <a:r>
              <a:rPr dirty="0">
                <a:latin typeface="Cambria" panose="02040503050406030204" pitchFamily="18" charset="0"/>
                <a:ea typeface="Cambria" panose="02040503050406030204" pitchFamily="18" charset="0"/>
              </a:rPr>
              <a:t>Multilingual support with text-to-speech features</a:t>
            </a:r>
          </a:p>
          <a:p>
            <a:r>
              <a:rPr dirty="0">
                <a:latin typeface="Cambria" panose="02040503050406030204" pitchFamily="18" charset="0"/>
                <a:ea typeface="Cambria" panose="02040503050406030204" pitchFamily="18" charset="0"/>
              </a:rPr>
              <a:t>Curated job notifications with reservation-specific filters</a:t>
            </a:r>
          </a:p>
          <a:p>
            <a:r>
              <a:rPr dirty="0">
                <a:latin typeface="Cambria" panose="02040503050406030204" pitchFamily="18" charset="0"/>
                <a:ea typeface="Cambria" panose="02040503050406030204" pitchFamily="18" charset="0"/>
              </a:rPr>
              <a:t>Integration of training modules, mock tests, and coaching guidance</a:t>
            </a:r>
          </a:p>
          <a:p>
            <a:r>
              <a:rPr dirty="0">
                <a:latin typeface="Cambria" panose="02040503050406030204" pitchFamily="18" charset="0"/>
                <a:ea typeface="Cambria" panose="02040503050406030204" pitchFamily="18" charset="0"/>
              </a:rPr>
              <a:t>Parent/guardian access to track progress and opportunities</a:t>
            </a:r>
          </a:p>
          <a:p>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 </a:t>
            </a:r>
            <a:r>
              <a:rPr lang="en-US" b="1" dirty="0">
                <a:solidFill>
                  <a:schemeClr val="accent2">
                    <a:lumMod val="75000"/>
                  </a:schemeClr>
                </a:solidFill>
                <a:latin typeface="Cambria" panose="02040503050406030204" pitchFamily="18" charset="0"/>
                <a:ea typeface="Cambria" panose="02040503050406030204" pitchFamily="18" charset="0"/>
                <a:hlinkClick r:id="rId3"/>
              </a:rPr>
              <a:t>https://github.com/Udyog-Saarthi-App/Udyog_Sarthi_App</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668000" cy="487500"/>
          </a:xfrm>
        </p:spPr>
        <p:txBody>
          <a:bodyPr/>
          <a:lstStyle/>
          <a:p>
            <a:r>
              <a:rPr dirty="0"/>
              <a:t>Category &amp; Technology</a:t>
            </a:r>
          </a:p>
        </p:txBody>
      </p:sp>
      <p:sp>
        <p:nvSpPr>
          <p:cNvPr id="3" name="Text Placeholder 2"/>
          <p:cNvSpPr>
            <a:spLocks noGrp="1"/>
          </p:cNvSpPr>
          <p:nvPr>
            <p:ph type="body" idx="1"/>
          </p:nvPr>
        </p:nvSpPr>
        <p:spPr>
          <a:xfrm>
            <a:off x="746540" y="788642"/>
            <a:ext cx="10668000" cy="4962807"/>
          </a:xfrm>
        </p:spPr>
        <p:txBody>
          <a:bodyPr>
            <a:noAutofit/>
          </a:bodyPr>
          <a:lstStyle/>
          <a:p>
            <a:r>
              <a:rPr sz="1500" dirty="0">
                <a:latin typeface="Cambria" panose="02040503050406030204" pitchFamily="18" charset="0"/>
                <a:ea typeface="Cambria" panose="02040503050406030204" pitchFamily="18" charset="0"/>
              </a:rPr>
              <a:t>Category: </a:t>
            </a:r>
            <a:endParaRPr lang="en-US" sz="1500" dirty="0">
              <a:latin typeface="Cambria" panose="02040503050406030204" pitchFamily="18" charset="0"/>
              <a:ea typeface="Cambria" panose="02040503050406030204" pitchFamily="18" charset="0"/>
            </a:endParaRP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Type:</a:t>
            </a:r>
            <a:r>
              <a:rPr lang="en-IN" sz="1500" dirty="0">
                <a:latin typeface="Cambria" panose="02040503050406030204" pitchFamily="18" charset="0"/>
                <a:ea typeface="Cambria" panose="02040503050406030204" pitchFamily="18" charset="0"/>
              </a:rPr>
              <a:t> Software (Web-Based Application)</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Domain:</a:t>
            </a:r>
            <a:r>
              <a:rPr lang="en-IN" sz="1500" dirty="0">
                <a:latin typeface="Cambria" panose="02040503050406030204" pitchFamily="18" charset="0"/>
                <a:ea typeface="Cambria" panose="02040503050406030204" pitchFamily="18" charset="0"/>
              </a:rPr>
              <a:t> Smart Automation &amp; Digital Inclusion</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Organization:</a:t>
            </a:r>
            <a:r>
              <a:rPr lang="en-IN" sz="1500" dirty="0">
                <a:latin typeface="Cambria" panose="02040503050406030204" pitchFamily="18" charset="0"/>
                <a:ea typeface="Cambria" panose="02040503050406030204" pitchFamily="18" charset="0"/>
              </a:rPr>
              <a:t> Ministry of Social Justice and Empowerment</a:t>
            </a:r>
          </a:p>
          <a:p>
            <a:pPr marL="658368" lvl="1" indent="-228600" defTabSz="329184">
              <a:spcBef>
                <a:spcPts val="800"/>
              </a:spcBef>
              <a:buClrTx/>
              <a:buSzPct val="100000"/>
              <a:buFont typeface="Times Roman"/>
              <a:buChar char="◦"/>
              <a:defRPr sz="864" b="1">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Refined SDG Mapping:</a:t>
            </a:r>
          </a:p>
          <a:p>
            <a:pPr marL="987552" lvl="2"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SDG 4 – Quality Education (through training &amp; coaching modules)</a:t>
            </a:r>
          </a:p>
          <a:p>
            <a:pPr marL="987552" lvl="2" indent="-228600" defTabSz="329184">
              <a:spcBef>
                <a:spcPts val="800"/>
              </a:spcBef>
              <a:buClrTx/>
              <a:buSzPct val="100000"/>
              <a:buFont typeface="Times Roman"/>
              <a:buChar char="▪"/>
              <a:defRPr sz="864" b="1">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SDG 8 – Decent Work and Economic Growth (by improving employability of PwDs)</a:t>
            </a:r>
          </a:p>
          <a:p>
            <a:pPr marL="987552" lvl="2" indent="-228600" defTabSz="329184">
              <a:spcBef>
                <a:spcPts val="800"/>
              </a:spcBef>
              <a:buClrTx/>
              <a:buSzPct val="100000"/>
              <a:buFont typeface="Times Roman"/>
              <a:buChar char="▪"/>
              <a:defRPr sz="864" b="1">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SDG 9 – Industry, Innovation, and Infrastructure (through scalable digital platform)</a:t>
            </a:r>
            <a:endParaRPr sz="1500" dirty="0">
              <a:latin typeface="Cambria" panose="02040503050406030204" pitchFamily="18" charset="0"/>
              <a:ea typeface="Cambria" panose="02040503050406030204" pitchFamily="18" charset="0"/>
            </a:endParaRPr>
          </a:p>
          <a:p>
            <a:r>
              <a:rPr sz="1500" dirty="0">
                <a:latin typeface="Cambria" panose="02040503050406030204" pitchFamily="18" charset="0"/>
                <a:ea typeface="Cambria" panose="02040503050406030204" pitchFamily="18" charset="0"/>
              </a:rPr>
              <a:t>Technology Bucket: </a:t>
            </a:r>
            <a:endParaRPr lang="en-IN" sz="1500" dirty="0">
              <a:latin typeface="Cambria" panose="02040503050406030204" pitchFamily="18" charset="0"/>
              <a:ea typeface="Cambria" panose="02040503050406030204" pitchFamily="18" charset="0"/>
            </a:endParaRP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Frontend:</a:t>
            </a:r>
            <a:r>
              <a:rPr lang="en-IN" sz="1500" dirty="0">
                <a:latin typeface="Cambria" panose="02040503050406030204" pitchFamily="18" charset="0"/>
                <a:ea typeface="Cambria" panose="02040503050406030204" pitchFamily="18" charset="0"/>
              </a:rPr>
              <a:t> React.js (with </a:t>
            </a:r>
            <a:r>
              <a:rPr lang="en-IN" sz="1500" b="1" dirty="0">
                <a:latin typeface="Cambria" panose="02040503050406030204" pitchFamily="18" charset="0"/>
                <a:ea typeface="Cambria" panose="02040503050406030204" pitchFamily="18" charset="0"/>
              </a:rPr>
              <a:t>PWA support</a:t>
            </a:r>
            <a:r>
              <a:rPr lang="en-IN" sz="1500" dirty="0">
                <a:latin typeface="Cambria" panose="02040503050406030204" pitchFamily="18" charset="0"/>
                <a:ea typeface="Cambria" panose="02040503050406030204" pitchFamily="18" charset="0"/>
              </a:rPr>
              <a:t> for cross-device compatibility)</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Backend:</a:t>
            </a:r>
            <a:r>
              <a:rPr lang="en-IN" sz="1500" dirty="0">
                <a:latin typeface="Cambria" panose="02040503050406030204" pitchFamily="18" charset="0"/>
                <a:ea typeface="Cambria" panose="02040503050406030204" pitchFamily="18" charset="0"/>
              </a:rPr>
              <a:t> Node.js with Express.js (efficient server-side handling)</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Database:</a:t>
            </a:r>
            <a:r>
              <a:rPr lang="en-IN" sz="1500" dirty="0">
                <a:latin typeface="Cambria" panose="02040503050406030204" pitchFamily="18" charset="0"/>
                <a:ea typeface="Cambria" panose="02040503050406030204" pitchFamily="18" charset="0"/>
              </a:rPr>
              <a:t> MongoDB (flexible NoSQL database for scalability)</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Authentication:</a:t>
            </a:r>
            <a:r>
              <a:rPr lang="en-IN" sz="1500" dirty="0">
                <a:latin typeface="Cambria" panose="02040503050406030204" pitchFamily="18" charset="0"/>
                <a:ea typeface="Cambria" panose="02040503050406030204" pitchFamily="18" charset="0"/>
              </a:rPr>
              <a:t> OAuth2 / JWT (secure user access &amp; role management)</a:t>
            </a:r>
          </a:p>
          <a:p>
            <a:pPr marL="658368" lvl="1" indent="-228600" defTabSz="329184">
              <a:spcBef>
                <a:spcPts val="800"/>
              </a:spcBef>
              <a:buClrTx/>
              <a:buSzPct val="100000"/>
              <a:buFont typeface="Times Roman"/>
              <a:buChar char="◦"/>
              <a:defRPr sz="864" b="1">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Accessibility Tools:    ARIA standards for screen-reader compatibility</a:t>
            </a:r>
          </a:p>
          <a:p>
            <a:pPr marL="987552" lvl="2"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Text-to-Speech (TTS) APIs for visually impaired users</a:t>
            </a:r>
          </a:p>
          <a:p>
            <a:pPr marL="987552" lvl="2"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dirty="0">
                <a:latin typeface="Cambria" panose="02040503050406030204" pitchFamily="18" charset="0"/>
                <a:ea typeface="Cambria" panose="02040503050406030204" pitchFamily="18" charset="0"/>
              </a:rPr>
              <a:t>Multilingual support for inclusivity</a:t>
            </a:r>
          </a:p>
          <a:p>
            <a:pPr marL="658368" lvl="1" indent="-228600" defTabSz="329184">
              <a:spcBef>
                <a:spcPts val="800"/>
              </a:spcBef>
              <a:buClrTx/>
              <a:buSzPct val="100000"/>
              <a:buFont typeface="Times Roman"/>
              <a:buChar char="◦"/>
              <a:defRPr sz="864">
                <a:latin typeface="Times Roman"/>
                <a:ea typeface="Times Roman"/>
                <a:cs typeface="Times Roman"/>
                <a:sym typeface="Times Roman"/>
              </a:defRPr>
            </a:pPr>
            <a:r>
              <a:rPr lang="en-IN" sz="1500" b="1" dirty="0">
                <a:latin typeface="Cambria" panose="02040503050406030204" pitchFamily="18" charset="0"/>
                <a:ea typeface="Cambria" panose="02040503050406030204" pitchFamily="18" charset="0"/>
              </a:rPr>
              <a:t>Hosting &amp; Deployment:</a:t>
            </a:r>
            <a:r>
              <a:rPr lang="en-IN" sz="1500" dirty="0">
                <a:latin typeface="Cambria" panose="02040503050406030204" pitchFamily="18" charset="0"/>
                <a:ea typeface="Cambria" panose="02040503050406030204" pitchFamily="18" charset="0"/>
              </a:rPr>
              <a:t> AWS / GCP Cloud (for scalability, reliability, and accessibility)</a:t>
            </a:r>
          </a:p>
          <a:p>
            <a:pPr marL="76200" indent="0">
              <a:buNone/>
            </a:pPr>
            <a:endParaRPr lang="en-US" sz="15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Text Placeholder 2"/>
          <p:cNvSpPr>
            <a:spLocks noGrp="1"/>
          </p:cNvSpPr>
          <p:nvPr>
            <p:ph type="body" idx="1"/>
          </p:nvPr>
        </p:nvSpPr>
        <p:spPr/>
        <p:txBody>
          <a:bodyPr/>
          <a:lstStyle/>
          <a:p>
            <a:r>
              <a:rPr dirty="0">
                <a:latin typeface="Cambria" panose="02040503050406030204" pitchFamily="18" charset="0"/>
                <a:ea typeface="Cambria" panose="02040503050406030204" pitchFamily="18" charset="0"/>
              </a:rPr>
              <a:t>Frontend: React.js (PWA support)</a:t>
            </a:r>
          </a:p>
          <a:p>
            <a:r>
              <a:rPr dirty="0">
                <a:latin typeface="Cambria" panose="02040503050406030204" pitchFamily="18" charset="0"/>
                <a:ea typeface="Cambria" panose="02040503050406030204" pitchFamily="18" charset="0"/>
              </a:rPr>
              <a:t>Backend: Node.js with Express.js</a:t>
            </a:r>
          </a:p>
          <a:p>
            <a:r>
              <a:rPr dirty="0">
                <a:latin typeface="Cambria" panose="02040503050406030204" pitchFamily="18" charset="0"/>
                <a:ea typeface="Cambria" panose="02040503050406030204" pitchFamily="18" charset="0"/>
              </a:rPr>
              <a:t>Database: MongoDB</a:t>
            </a:r>
          </a:p>
          <a:p>
            <a:r>
              <a:rPr dirty="0">
                <a:latin typeface="Cambria" panose="02040503050406030204" pitchFamily="18" charset="0"/>
                <a:ea typeface="Cambria" panose="02040503050406030204" pitchFamily="18" charset="0"/>
              </a:rPr>
              <a:t>Authentication: OAuth2 / JWT</a:t>
            </a:r>
          </a:p>
          <a:p>
            <a:r>
              <a:rPr dirty="0">
                <a:latin typeface="Cambria" panose="02040503050406030204" pitchFamily="18" charset="0"/>
                <a:ea typeface="Cambria" panose="02040503050406030204" pitchFamily="18" charset="0"/>
              </a:rPr>
              <a:t>Accessibility Tools: Text-to-Speech APIs, Multilingual support</a:t>
            </a:r>
          </a:p>
          <a:p>
            <a:r>
              <a:rPr dirty="0">
                <a:latin typeface="Cambria" panose="02040503050406030204" pitchFamily="18" charset="0"/>
                <a:ea typeface="Cambria" panose="02040503050406030204" pitchFamily="18" charset="0"/>
              </a:rPr>
              <a:t>Hosting: AWS / GCP Cloud</a:t>
            </a:r>
          </a:p>
          <a:p>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&amp; Hardware Requirements</a:t>
            </a:r>
          </a:p>
        </p:txBody>
      </p:sp>
      <p:sp>
        <p:nvSpPr>
          <p:cNvPr id="3" name="Text Placeholder 2"/>
          <p:cNvSpPr>
            <a:spLocks noGrp="1"/>
          </p:cNvSpPr>
          <p:nvPr>
            <p:ph type="body" idx="1"/>
          </p:nvPr>
        </p:nvSpPr>
        <p:spPr/>
        <p:txBody>
          <a:bodyPr>
            <a:normAutofit/>
          </a:bodyPr>
          <a:lstStyle/>
          <a:p>
            <a:pPr marL="76200" indent="0">
              <a:buNone/>
            </a:pPr>
            <a:r>
              <a:rPr lang="en-IN" b="1" dirty="0">
                <a:latin typeface="Cambria" panose="02040503050406030204" pitchFamily="18" charset="0"/>
                <a:ea typeface="Cambria" panose="02040503050406030204" pitchFamily="18" charset="0"/>
              </a:rPr>
              <a:t>Software Stack</a:t>
            </a:r>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Frontend:</a:t>
            </a:r>
            <a:r>
              <a:rPr lang="en-IN" dirty="0">
                <a:latin typeface="Cambria" panose="02040503050406030204" pitchFamily="18" charset="0"/>
                <a:ea typeface="Cambria" panose="02040503050406030204" pitchFamily="18" charset="0"/>
              </a:rPr>
              <a:t> React.js (PWA-enabled for cross-device access)</a:t>
            </a:r>
          </a:p>
          <a:p>
            <a:r>
              <a:rPr lang="en-IN" b="1" dirty="0">
                <a:latin typeface="Cambria" panose="02040503050406030204" pitchFamily="18" charset="0"/>
                <a:ea typeface="Cambria" panose="02040503050406030204" pitchFamily="18" charset="0"/>
              </a:rPr>
              <a:t>Backend:</a:t>
            </a:r>
            <a:r>
              <a:rPr lang="en-IN" dirty="0">
                <a:latin typeface="Cambria" panose="02040503050406030204" pitchFamily="18" charset="0"/>
                <a:ea typeface="Cambria" panose="02040503050406030204" pitchFamily="18" charset="0"/>
              </a:rPr>
              <a:t> Node.js with Express.js (scalable service architecture)</a:t>
            </a:r>
          </a:p>
          <a:p>
            <a:r>
              <a:rPr lang="en-IN" b="1" dirty="0">
                <a:latin typeface="Cambria" panose="02040503050406030204" pitchFamily="18" charset="0"/>
                <a:ea typeface="Cambria" panose="02040503050406030204" pitchFamily="18" charset="0"/>
              </a:rPr>
              <a:t>Database:</a:t>
            </a:r>
            <a:r>
              <a:rPr lang="en-IN" dirty="0">
                <a:latin typeface="Cambria" panose="02040503050406030204" pitchFamily="18" charset="0"/>
                <a:ea typeface="Cambria" panose="02040503050406030204" pitchFamily="18" charset="0"/>
              </a:rPr>
              <a:t> MongoDB with REST APIs (efficient data management)</a:t>
            </a:r>
          </a:p>
          <a:p>
            <a:r>
              <a:rPr lang="en-IN" b="1" dirty="0">
                <a:latin typeface="Cambria" panose="02040503050406030204" pitchFamily="18" charset="0"/>
                <a:ea typeface="Cambria" panose="02040503050406030204" pitchFamily="18" charset="0"/>
              </a:rPr>
              <a:t>Accessibility Layer:</a:t>
            </a:r>
            <a:r>
              <a:rPr lang="en-IN" dirty="0">
                <a:latin typeface="Cambria" panose="02040503050406030204" pitchFamily="18" charset="0"/>
                <a:ea typeface="Cambria" panose="02040503050406030204" pitchFamily="18" charset="0"/>
              </a:rPr>
              <a:t> ARIA standards, integrated Text-to-Speech (TTS)</a:t>
            </a:r>
          </a:p>
          <a:p>
            <a:pPr marL="76200" indent="0">
              <a:buNone/>
            </a:pPr>
            <a:endParaRPr lang="en-IN" dirty="0">
              <a:latin typeface="Cambria" panose="02040503050406030204" pitchFamily="18" charset="0"/>
              <a:ea typeface="Cambria" panose="02040503050406030204" pitchFamily="18" charset="0"/>
            </a:endParaRPr>
          </a:p>
          <a:p>
            <a:pPr marL="76200" indent="0">
              <a:buNone/>
            </a:pPr>
            <a:r>
              <a:rPr lang="en-IN" b="1" dirty="0">
                <a:latin typeface="Cambria" panose="02040503050406030204" pitchFamily="18" charset="0"/>
                <a:ea typeface="Cambria" panose="02040503050406030204" pitchFamily="18" charset="0"/>
              </a:rPr>
              <a:t>Hardware Environment</a:t>
            </a:r>
            <a:endParaRPr lang="en-IN" dirty="0">
              <a:latin typeface="Cambria" panose="02040503050406030204" pitchFamily="18" charset="0"/>
              <a:ea typeface="Cambria" panose="02040503050406030204" pitchFamily="18" charset="0"/>
            </a:endParaRPr>
          </a:p>
          <a:p>
            <a:r>
              <a:rPr lang="en-IN" b="1" dirty="0">
                <a:latin typeface="Cambria" panose="02040503050406030204" pitchFamily="18" charset="0"/>
                <a:ea typeface="Cambria" panose="02040503050406030204" pitchFamily="18" charset="0"/>
              </a:rPr>
              <a:t>End-User Devices:</a:t>
            </a:r>
            <a:r>
              <a:rPr lang="en-IN" dirty="0">
                <a:latin typeface="Cambria" panose="02040503050406030204" pitchFamily="18" charset="0"/>
                <a:ea typeface="Cambria" panose="02040503050406030204" pitchFamily="18" charset="0"/>
              </a:rPr>
              <a:t> Compatible with desktops, smartphones, and tablets</a:t>
            </a:r>
          </a:p>
          <a:p>
            <a:r>
              <a:rPr lang="en-IN" b="1" dirty="0">
                <a:latin typeface="Cambria" panose="02040503050406030204" pitchFamily="18" charset="0"/>
                <a:ea typeface="Cambria" panose="02040503050406030204" pitchFamily="18" charset="0"/>
              </a:rPr>
              <a:t>Server Infrastructure:</a:t>
            </a:r>
            <a:r>
              <a:rPr lang="en-IN" dirty="0">
                <a:latin typeface="Cambria" panose="02040503050406030204" pitchFamily="18" charset="0"/>
                <a:ea typeface="Cambria" panose="02040503050406030204" pitchFamily="18" charset="0"/>
              </a:rPr>
              <a:t> Cloud-hosted deployment ensuring high availability</a:t>
            </a:r>
          </a:p>
          <a:p>
            <a:r>
              <a:rPr lang="en-IN" b="1" dirty="0">
                <a:latin typeface="Cambria" panose="02040503050406030204" pitchFamily="18" charset="0"/>
                <a:ea typeface="Cambria" panose="02040503050406030204" pitchFamily="18" charset="0"/>
              </a:rPr>
              <a:t>Connectivity:</a:t>
            </a:r>
            <a:r>
              <a:rPr lang="en-IN" dirty="0">
                <a:latin typeface="Cambria" panose="02040503050406030204" pitchFamily="18" charset="0"/>
                <a:ea typeface="Cambria" panose="02040503050406030204" pitchFamily="18" charset="0"/>
              </a:rPr>
              <a:t> Reliable internet access to support continuous usage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Timeline of the Project (Gantt Chart)</a:t>
            </a:r>
          </a:p>
        </p:txBody>
      </p:sp>
      <p:sp>
        <p:nvSpPr>
          <p:cNvPr id="3" name="Text Placeholder 2"/>
          <p:cNvSpPr>
            <a:spLocks noGrp="1"/>
          </p:cNvSpPr>
          <p:nvPr>
            <p:ph type="body" idx="1"/>
          </p:nvPr>
        </p:nvSpPr>
        <p:spPr/>
        <p:txBody>
          <a:bodyPr/>
          <a:lstStyle/>
          <a:p>
            <a:r>
              <a:rPr dirty="0">
                <a:latin typeface="Cambria" panose="02040503050406030204" pitchFamily="18" charset="0"/>
                <a:ea typeface="Cambria" panose="02040503050406030204" pitchFamily="18" charset="0"/>
              </a:rPr>
              <a:t>Phase 1 (Week 1-2): Requirement Analysis &amp; Design</a:t>
            </a:r>
          </a:p>
          <a:p>
            <a:r>
              <a:rPr dirty="0">
                <a:latin typeface="Cambria" panose="02040503050406030204" pitchFamily="18" charset="0"/>
                <a:ea typeface="Cambria" panose="02040503050406030204" pitchFamily="18" charset="0"/>
              </a:rPr>
              <a:t>Phase 2 (Week 3-5): Frontend &amp; Backend Development</a:t>
            </a:r>
          </a:p>
          <a:p>
            <a:r>
              <a:rPr dirty="0">
                <a:latin typeface="Cambria" panose="02040503050406030204" pitchFamily="18" charset="0"/>
                <a:ea typeface="Cambria" panose="02040503050406030204" pitchFamily="18" charset="0"/>
              </a:rPr>
              <a:t>Phase 3 (Week 6-7): Integration of Accessibility Features</a:t>
            </a:r>
          </a:p>
          <a:p>
            <a:r>
              <a:rPr dirty="0">
                <a:latin typeface="Cambria" panose="02040503050406030204" pitchFamily="18" charset="0"/>
                <a:ea typeface="Cambria" panose="02040503050406030204" pitchFamily="18" charset="0"/>
              </a:rPr>
              <a:t>Phase 4 (Week 8-9): Testing &amp; Bug Fixing</a:t>
            </a:r>
          </a:p>
          <a:p>
            <a:r>
              <a:rPr dirty="0">
                <a:latin typeface="Cambria" panose="02040503050406030204" pitchFamily="18" charset="0"/>
                <a:ea typeface="Cambria" panose="02040503050406030204" pitchFamily="18" charset="0"/>
              </a:rPr>
              <a:t>Phase 5 (Week 10): Deployment &amp; User Training</a:t>
            </a:r>
            <a:endParaRPr lang="en-IN" dirty="0">
              <a:latin typeface="Cambria" panose="02040503050406030204" pitchFamily="18" charset="0"/>
              <a:ea typeface="Cambria" panose="02040503050406030204" pitchFamily="18" charset="0"/>
            </a:endParaRPr>
          </a:p>
          <a:p>
            <a:pPr marL="76200" indent="0">
              <a:buNone/>
            </a:pPr>
            <a:endParaRPr lang="en-IN" dirty="0">
              <a:latin typeface="Cambria" panose="02040503050406030204" pitchFamily="18" charset="0"/>
              <a:ea typeface="Cambria" panose="020405030504060302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Text Placeholder 2"/>
          <p:cNvSpPr>
            <a:spLocks noGrp="1"/>
          </p:cNvSpPr>
          <p:nvPr>
            <p:ph type="body" idx="1"/>
          </p:nvPr>
        </p:nvSpPr>
        <p:spPr/>
        <p:txBody>
          <a:bodyPr/>
          <a:lstStyle/>
          <a:p>
            <a:r>
              <a:rPr dirty="0">
                <a:latin typeface="Cambria" panose="02040503050406030204" pitchFamily="18" charset="0"/>
                <a:ea typeface="Cambria" panose="02040503050406030204" pitchFamily="18" charset="0"/>
              </a:rPr>
              <a:t>[1] Ministry of Statistics &amp; </a:t>
            </a:r>
            <a:r>
              <a:rPr dirty="0" err="1">
                <a:latin typeface="Cambria" panose="02040503050406030204" pitchFamily="18" charset="0"/>
                <a:ea typeface="Cambria" panose="02040503050406030204" pitchFamily="18" charset="0"/>
              </a:rPr>
              <a:t>Programme</a:t>
            </a:r>
            <a:r>
              <a:rPr dirty="0">
                <a:latin typeface="Cambria" panose="02040503050406030204" pitchFamily="18" charset="0"/>
                <a:ea typeface="Cambria" panose="02040503050406030204" pitchFamily="18" charset="0"/>
              </a:rPr>
              <a:t> Implementation, 'Report on Persons with Disabilities in India', 2021.</a:t>
            </a:r>
          </a:p>
          <a:p>
            <a:r>
              <a:rPr dirty="0">
                <a:latin typeface="Cambria" panose="02040503050406030204" pitchFamily="18" charset="0"/>
                <a:ea typeface="Cambria" panose="02040503050406030204" pitchFamily="18" charset="0"/>
              </a:rPr>
              <a:t>[2] Rights of Persons with Disabilities Act, 2016 (</a:t>
            </a:r>
            <a:r>
              <a:rPr dirty="0" err="1">
                <a:latin typeface="Cambria" panose="02040503050406030204" pitchFamily="18" charset="0"/>
                <a:ea typeface="Cambria" panose="02040503050406030204" pitchFamily="18" charset="0"/>
              </a:rPr>
              <a:t>RPwD</a:t>
            </a:r>
            <a:r>
              <a:rPr dirty="0">
                <a:latin typeface="Cambria" panose="02040503050406030204" pitchFamily="18" charset="0"/>
                <a:ea typeface="Cambria" panose="02040503050406030204" pitchFamily="18" charset="0"/>
              </a:rPr>
              <a:t> Act).</a:t>
            </a:r>
          </a:p>
          <a:p>
            <a:r>
              <a:rPr dirty="0">
                <a:latin typeface="Cambria" panose="02040503050406030204" pitchFamily="18" charset="0"/>
                <a:ea typeface="Cambria" panose="02040503050406030204" pitchFamily="18" charset="0"/>
              </a:rPr>
              <a:t>[3] World Health Organization (WHO), 'Global Report on Disability', 2019.</a:t>
            </a:r>
          </a:p>
          <a:p>
            <a:r>
              <a:rPr dirty="0">
                <a:latin typeface="Cambria" panose="02040503050406030204" pitchFamily="18" charset="0"/>
                <a:ea typeface="Cambria" panose="02040503050406030204" pitchFamily="18" charset="0"/>
              </a:rPr>
              <a:t>[4] A. Sharma, 'Digital Inclusion of PwDs in India', IEEE Access, 2022.</a:t>
            </a:r>
          </a:p>
          <a:p>
            <a:r>
              <a:rPr dirty="0">
                <a:latin typeface="Cambria" panose="02040503050406030204" pitchFamily="18" charset="0"/>
                <a:ea typeface="Cambria" panose="02040503050406030204" pitchFamily="18" charset="0"/>
              </a:rPr>
              <a:t>[5] S. Gupta, 'Inclusive Employment Platforms for Persons with Disabilities', Springer, 2021.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450f434-8884-451b-956f-1819749fd74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81DDB871361914C92E59AEC9AD0EF2A" ma:contentTypeVersion="15" ma:contentTypeDescription="Create a new document." ma:contentTypeScope="" ma:versionID="f9564cd3baf113e1b1e3e34a23e76c19">
  <xsd:schema xmlns:xsd="http://www.w3.org/2001/XMLSchema" xmlns:xs="http://www.w3.org/2001/XMLSchema" xmlns:p="http://schemas.microsoft.com/office/2006/metadata/properties" xmlns:ns3="d450f434-8884-451b-956f-1819749fd748" xmlns:ns4="4030240f-fb25-4c49-b689-432e13a901d7" targetNamespace="http://schemas.microsoft.com/office/2006/metadata/properties" ma:root="true" ma:fieldsID="515a470f1d9ff01546ffcc7de91268d3" ns3:_="" ns4:_="">
    <xsd:import namespace="d450f434-8884-451b-956f-1819749fd748"/>
    <xsd:import namespace="4030240f-fb25-4c49-b689-432e13a901d7"/>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DateTaken"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0f434-8884-451b-956f-1819749fd7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030240f-fb25-4c49-b689-432e13a901d7"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A6D003-2CDA-4C07-B84A-D9CCD761AB0D}">
  <ds:schemaRefs>
    <ds:schemaRef ds:uri="http://schemas.microsoft.com/sharepoint/v3/contenttype/forms"/>
  </ds:schemaRefs>
</ds:datastoreItem>
</file>

<file path=customXml/itemProps2.xml><?xml version="1.0" encoding="utf-8"?>
<ds:datastoreItem xmlns:ds="http://schemas.openxmlformats.org/officeDocument/2006/customXml" ds:itemID="{D072BA8D-1D41-42EC-900B-27E6F893836E}">
  <ds:schemaRefs>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d450f434-8884-451b-956f-1819749fd748"/>
    <ds:schemaRef ds:uri="http://www.w3.org/XML/1998/namespace"/>
    <ds:schemaRef ds:uri="http://purl.org/dc/elements/1.1/"/>
    <ds:schemaRef ds:uri="http://purl.org/dc/terms/"/>
    <ds:schemaRef ds:uri="4030240f-fb25-4c49-b689-432e13a901d7"/>
    <ds:schemaRef ds:uri="http://purl.org/dc/dcmitype/"/>
  </ds:schemaRefs>
</ds:datastoreItem>
</file>

<file path=customXml/itemProps3.xml><?xml version="1.0" encoding="utf-8"?>
<ds:datastoreItem xmlns:ds="http://schemas.openxmlformats.org/officeDocument/2006/customXml" ds:itemID="{E7835FE1-E834-458E-9313-B7D5C55649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0f434-8884-451b-956f-1819749fd748"/>
    <ds:schemaRef ds:uri="4030240f-fb25-4c49-b689-432e13a901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334</TotalTime>
  <Words>1262</Words>
  <Application>Microsoft Office PowerPoint</Application>
  <PresentationFormat>Widescreen</PresentationFormat>
  <Paragraphs>127</Paragraphs>
  <Slides>15</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Bookman Old Style</vt:lpstr>
      <vt:lpstr>Calibri</vt:lpstr>
      <vt:lpstr>Cambria</vt:lpstr>
      <vt:lpstr>Times Roman</vt:lpstr>
      <vt:lpstr>Verdana</vt:lpstr>
      <vt:lpstr>Bioinformatics</vt:lpstr>
      <vt:lpstr>UDYOG SAARTHI APP (PROGRESSIVE WEB-BASED APPLICATION)</vt:lpstr>
      <vt:lpstr>Problem Statement Number: PSCS_39 </vt:lpstr>
      <vt:lpstr>Content</vt:lpstr>
      <vt:lpstr>Problem Statement</vt:lpstr>
      <vt:lpstr>Objectives</vt:lpstr>
      <vt:lpstr>Background &amp; Related Work</vt:lpstr>
      <vt:lpstr>Analysis of Problem Statement</vt:lpstr>
      <vt:lpstr>Innovation / Novel Contributions</vt:lpstr>
      <vt:lpstr>Github Link</vt:lpstr>
      <vt:lpstr>Category &amp; Technology</vt:lpstr>
      <vt:lpstr>Technology Stack</vt:lpstr>
      <vt:lpstr>Software &amp; Hardware Requirements</vt:lpstr>
      <vt:lpstr>Timeline of the Project (Gantt Chart)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HITHA R N</cp:lastModifiedBy>
  <cp:revision>49</cp:revision>
  <dcterms:modified xsi:type="dcterms:W3CDTF">2025-08-20T04:41:35Z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0x010100881DDB871361914C92E59AEC9AD0EF2A</vt:lpwstr>
  </property>
</Properties>
</file>