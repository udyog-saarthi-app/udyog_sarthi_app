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1"/>
  </p:notesMasterIdLst>
  <p:sldIdLst>
    <p:sldId id="281" r:id="rId5"/>
    <p:sldId id="257" r:id="rId6"/>
    <p:sldId id="269" r:id="rId7"/>
    <p:sldId id="273" r:id="rId8"/>
    <p:sldId id="268" r:id="rId9"/>
    <p:sldId id="272" r:id="rId10"/>
    <p:sldId id="271" r:id="rId11"/>
    <p:sldId id="270" r:id="rId12"/>
    <p:sldId id="265" r:id="rId13"/>
    <p:sldId id="275" r:id="rId14"/>
    <p:sldId id="276" r:id="rId15"/>
    <p:sldId id="277" r:id="rId16"/>
    <p:sldId id="278" r:id="rId17"/>
    <p:sldId id="279" r:id="rId18"/>
    <p:sldId id="280" r:id="rId19"/>
    <p:sldId id="26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yog-Saarthi-App/Udyog_Sarthi_Ap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spi.gov.in/sites/default/files/publication_reports/Report_583_Final_0.pdf" TargetMode="External"/><Relationship Id="rId7" Type="http://schemas.openxmlformats.org/officeDocument/2006/relationships/hyperlink" Target="https://journals.sagepub.com/doi/10.1177/00187267221103529?int.sj-abstract.similar-articles.5=#:~:text=Drivers%20of%20career%20success%20among,Yehuda%20Baruch%2C%20Seeta%20Gupta%2C%20202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ssionspubliques.org/digital-inclusion-bridging-the-divide-with-professor-dr-dp-sharma/?lang=en" TargetMode="External"/><Relationship Id="rId5" Type="http://schemas.openxmlformats.org/officeDocument/2006/relationships/hyperlink" Target="https://www.who.int/teams/noncommunicable-diseases/sensory-functions-disability-and-rehabilitation/global-report-on-health-equity-for-persons-with-disabilities" TargetMode="External"/><Relationship Id="rId4" Type="http://schemas.openxmlformats.org/officeDocument/2006/relationships/hyperlink" Target="https://www.indiacode.nic.in/bitstream/123456789/15939/1/the_rights_of_persons_with_disabilities_act%2C_2016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soclibrary.futa.edu.ng/books/Research%20Methods%20in%20Human%20Computer%20Interaction%20by%20Jonathan%20Lazar,%20Jinjuan%20Feng%20and%20Harry%20Hochheiser%20(Auth.)%20(z-lib.org).pdf" TargetMode="External"/><Relationship Id="rId3" Type="http://schemas.openxmlformats.org/officeDocument/2006/relationships/hyperlink" Target="https://www.indiacode.nic.in/bitstream/123456789/15939/1/the_rights_of_persons_with_disabilities_act%2C_2016.pdf" TargetMode="External"/><Relationship Id="rId7" Type="http://schemas.openxmlformats.org/officeDocument/2006/relationships/hyperlink" Target="https://www.academia.edu/281657/Disability_Citizenship_An_Australian_Human_Rights_Analysis_of_the_Cultural_Industries" TargetMode="External"/><Relationship Id="rId2" Type="http://schemas.openxmlformats.org/officeDocument/2006/relationships/hyperlink" Target="https://www.mospi.gov.in/sites/default/files/publication_reports/Report_583_Final_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als.sagepub.com/doi/10.1177/00187267221103529?int.sj-abstract.similar-articles.5=#:~:text=Drivers%20of%20career%20success%20among,Yehuda%20Baruch%2C%20Seeta%20Gupta%2C%202023" TargetMode="External"/><Relationship Id="rId11" Type="http://schemas.openxmlformats.org/officeDocument/2006/relationships/hyperlink" Target="https://www.w3.org/TR/WCAG21/#:~:text=Abstract,is%20provided%20in%20separate%20documents" TargetMode="External"/><Relationship Id="rId5" Type="http://schemas.openxmlformats.org/officeDocument/2006/relationships/hyperlink" Target="https://missionspubliques.org/digital-inclusion-bridging-the-divide-with-professor-dr-dp-sharma/?lang=en" TargetMode="External"/><Relationship Id="rId10" Type="http://schemas.openxmlformats.org/officeDocument/2006/relationships/hyperlink" Target="https://abhipedia.abhimanu.com/Article/IAS/NTAzMTU0/Challenges-faced-by-challenges-faced-by-persons-with-disabilities-PwDs-in-India-" TargetMode="External"/><Relationship Id="rId4" Type="http://schemas.openxmlformats.org/officeDocument/2006/relationships/hyperlink" Target="https://www.who.int/teams/noncommunicable-diseases/sensory-functions-disability-and-rehabilitation/global-report-on-health-equity-for-persons-with-disabilities" TargetMode="External"/><Relationship Id="rId9" Type="http://schemas.openxmlformats.org/officeDocument/2006/relationships/hyperlink" Target="https://portal.qader.org/cached_uploads/download/2018/11/27/empowerment-by-digital-media-of-people-with-disabilities-1543305157.pdf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Progressive_web_apps" TargetMode="External"/><Relationship Id="rId3" Type="http://schemas.openxmlformats.org/officeDocument/2006/relationships/hyperlink" Target="https://webaim.org/projects/screenreadersurvey/" TargetMode="External"/><Relationship Id="rId7" Type="http://schemas.openxmlformats.org/officeDocument/2006/relationships/hyperlink" Target="https://web.dev/explore/progressive-web-apps" TargetMode="External"/><Relationship Id="rId2" Type="http://schemas.openxmlformats.org/officeDocument/2006/relationships/hyperlink" Target="https://www.w3.org/WAI/fundamentals/accessibility-intr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ccessibility.blog.gov.uk/2016/09/02/dos-and-donts-on-designing-for-accessibility/" TargetMode="External"/><Relationship Id="rId5" Type="http://schemas.openxmlformats.org/officeDocument/2006/relationships/hyperlink" Target="http://a11yproject.com/resources/" TargetMode="External"/><Relationship Id="rId10" Type="http://schemas.openxmlformats.org/officeDocument/2006/relationships/hyperlink" Target="https://www.ilo.org/sites/default/files/wcmsp5/groups/public/@asia/@ro-bangkok/@sro-new_delhi/documents/publication/wcms_931037.pdf" TargetMode="External"/><Relationship Id="rId4" Type="http://schemas.openxmlformats.org/officeDocument/2006/relationships/hyperlink" Target="https://developer.mozilla.org/en-US/docs/Web/Accessibility/ARIA" TargetMode="External"/><Relationship Id="rId9" Type="http://schemas.openxmlformats.org/officeDocument/2006/relationships/hyperlink" Target="https://learn.microsoft.com/en-us/microsoft-edge/progressive-web-apps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merald.com/insight/content/doi/10.1108/JIBR-05-2020-0152/full/html" TargetMode="External"/><Relationship Id="rId13" Type="http://schemas.openxmlformats.org/officeDocument/2006/relationships/hyperlink" Target="https://www.india.gov.in/rights-persons-disabilities" TargetMode="External"/><Relationship Id="rId3" Type="http://schemas.openxmlformats.org/officeDocument/2006/relationships/hyperlink" Target="https://developer.mozilla.org/en-US/docs/Web/Progressive_web_apps" TargetMode="External"/><Relationship Id="rId7" Type="http://schemas.openxmlformats.org/officeDocument/2006/relationships/hyperlink" Target="https://web.archive.org/web/*/https:/www.indiaspend.com/why-indias-disabled-are-excluded-from-the-worlds-largest-jobs-programme/*" TargetMode="External"/><Relationship Id="rId12" Type="http://schemas.openxmlformats.org/officeDocument/2006/relationships/hyperlink" Target="https://www.disabilityaffairs.gov.in/" TargetMode="External"/><Relationship Id="rId2" Type="http://schemas.openxmlformats.org/officeDocument/2006/relationships/hyperlink" Target="https://web.dev/explore/progressive-web-apps" TargetMode="External"/><Relationship Id="rId16" Type="http://schemas.openxmlformats.org/officeDocument/2006/relationships/hyperlink" Target="https://www.worldbank.org/en/topic/disabil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cpedp.org/" TargetMode="External"/><Relationship Id="rId11" Type="http://schemas.openxmlformats.org/officeDocument/2006/relationships/hyperlink" Target="https://www.sigaccess.org/welcome-to-sigaccess/resources/assets-conference/" TargetMode="External"/><Relationship Id="rId5" Type="http://schemas.openxmlformats.org/officeDocument/2006/relationships/hyperlink" Target="https://www.ilo.org/sites/default/files/wcmsp5/groups/public/@asia/@ro-bangkok/@sro-new_delhi/documents/publication/wcms_931037.pdf" TargetMode="External"/><Relationship Id="rId15" Type="http://schemas.openxmlformats.org/officeDocument/2006/relationships/hyperlink" Target="https://accessibleindia.gov.in/" TargetMode="External"/><Relationship Id="rId10" Type="http://schemas.openxmlformats.org/officeDocument/2006/relationships/hyperlink" Target="https://www.nngroup.com/topic/accessibility/" TargetMode="External"/><Relationship Id="rId4" Type="http://schemas.openxmlformats.org/officeDocument/2006/relationships/hyperlink" Target="https://learn.microsoft.com/en-us/microsoft-edge/progressive-web-apps/" TargetMode="External"/><Relationship Id="rId9" Type="http://schemas.openxmlformats.org/officeDocument/2006/relationships/hyperlink" Target="http://www.dpiindia.org/" TargetMode="External"/><Relationship Id="rId14" Type="http://schemas.openxmlformats.org/officeDocument/2006/relationships/hyperlink" Target="https://uidai.gov.in/images/state-wise-aadhaar-saturation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UDYOG SAARTHI APP (PROGRESSIVE WEB-BASED APPLICATION)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CSG_7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Lakshmisha  S. K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3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20221CSG0126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SWAYAMPRABHA B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20221CSG0146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HITHA R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20221CSG0158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ANKITHA M R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694321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Technology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18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Anandaraj S.P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H M Manjula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0940" y="1164615"/>
            <a:ext cx="10668000" cy="477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Hardware &amp; Software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PSCS-39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Git-hub Link :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https://github.com/Udyog-Saarthi-App/Udyog_Sarthi_App</a:t>
            </a:r>
            <a:endParaRPr lang="en-US" alt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Category 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Abstract :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A large number of Persons with Disabilities (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) in India, especially under the D &amp; E categories(Intellectual Disability, Autism Spectrum Disorder, Multiple Disabilities, Mental Illness, Specific Learning Disabilities) of the 4% reservation, remain unemployed due to lack of awareness, inaccessible job information, and limited digital literacy.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Existing portals fail to provide simplified, accessible, and timely updates, resulting in missed opportunities. 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There is a need for an inclusive Progressive Web App to bridge this gap with curated job listings, multi-language/audio support, offline access, and real-time notifications.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512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</a:rPr>
              <a:t>Ministry of Statistics and </a:t>
            </a:r>
            <a:r>
              <a:rPr lang="en-US" sz="16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Programme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</a:rPr>
              <a:t> Implementation (</a:t>
            </a:r>
            <a:r>
              <a:rPr lang="en-US" sz="16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MoSPI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</a:rPr>
              <a:t>). (2021). Report on Persons with Disabilities in India: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Link: 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https://www.mospi.gov.in/sites/default/files/publication_reports/Report_583_Final_0.pdf</a:t>
            </a: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Government of India. (2016). The Rights of Persons with Disabilities Act, 2016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Link:</a:t>
            </a: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://www.indiacode.nic.in/bitstream/123456789/15939/1/the_rights_of_persons_with_disabilities_act%2C_2016.pdf</a:t>
            </a: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World Health Organization. (2019). Global Report on Disability: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Link: 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https://www.who.int/teams/noncommunicable-diseases/sensory-functions-disability-and-rehabilitation/global-report-on-health-equity-for-persons-with-disabilities</a:t>
            </a: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Dr. D. P. Sharma, (2022). Digital Inclusion of </a:t>
            </a: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 in India. IEEE Access, 10, 48860-48872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DOI:</a:t>
            </a: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://missionspubliques.org/digital-inclusion-bridging-the-divide-with-professor-dr-dp-sharma/?lang=</a:t>
            </a: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en</a:t>
            </a: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Gupta, S., &amp; Kumar, P. (2021):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Inclusive Employment Platforms for Persons with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DisabilitiesDOI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https://journals.sagepub.com/doi/10.1177/00187267221103529?int.sj-abstract.similar-articles.5=#:~:text=Drivers%20of%20career%20success%20among,Yehuda%20Baruch%2C%20Seeta%20Gupta%2C%202023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lvl="0"/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To develop an accessible PWA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that provides curated job information tailored for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featuring simplified language, text-to-speech, and a screen-reader friendly interface.</a:t>
            </a:r>
          </a:p>
          <a:p>
            <a:pPr lvl="0"/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To enhance the employability of users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by integrating coaching modules, mock tests, and guidance on application processes within the platform.</a:t>
            </a:r>
          </a:p>
          <a:p>
            <a:pPr lvl="0"/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To increase awareness and utilization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of the 4% job reservation policy for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by implementing specific filters and dedicated information sections.</a:t>
            </a:r>
          </a:p>
          <a:p>
            <a:pPr lvl="0"/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To bridge the communication gap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by providing a platform for parents/guardians to track opportunities and their ward's progress, addressing literacy barriers.</a:t>
            </a:r>
          </a:p>
          <a:p>
            <a:pPr lvl="0"/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To ensure wide accessibility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by deploying a low-data usage PWA compatible with various devices (desktops, smartphones, tablets), especially in semi-urban and rural areas.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Many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under D &amp; E categories are unaware of job opportunities due to inaccessible formats and lack of simplified communication.</a:t>
            </a:r>
          </a:p>
          <a:p>
            <a:pPr>
              <a:lnSpc>
                <a:spcPct val="120000"/>
              </a:lnSpc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Existing portals are complex and not designed for users with intellectual or learning disabilities.</a:t>
            </a:r>
          </a:p>
          <a:p>
            <a:pPr>
              <a:lnSpc>
                <a:spcPct val="120000"/>
              </a:lnSpc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Information is often available only in English or complicated technical language, making it harder to understand.</a:t>
            </a:r>
          </a:p>
          <a:p>
            <a:pPr>
              <a:lnSpc>
                <a:spcPct val="120000"/>
              </a:lnSpc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No central platform exists to combine job listings, training resources, and notifications for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Lack of offline access means people in rural or low-internet areas miss updates.</a:t>
            </a:r>
          </a:p>
          <a:p>
            <a:pPr>
              <a:lnSpc>
                <a:spcPct val="120000"/>
              </a:lnSpc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Without timely alerts, many deadlines are missed, reducing chances of employment.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05410" y="850769"/>
            <a:ext cx="10668000" cy="724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1800" b="1" u="sng" dirty="0">
                <a:latin typeface="Cambria" panose="02040503050406030204" pitchFamily="18" charset="0"/>
                <a:ea typeface="Cambria" panose="02040503050406030204" pitchFamily="18" charset="0"/>
              </a:rPr>
              <a:t>Proposed Method: 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proposed solution is the "Udyog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Saarthi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" Progressive Web App. Its innovation lies in its integrated, accessible, and user-centric design: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PWA Architecture: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Ensures cross-device compatibility, offline functionality, and low data usage—critical for users in areas with poor connectivity.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Integrated Features: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Combines job listings (with reservation filters), training modules, mock interviews, and a dedicated guardian portal in one platform.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Multilingual TTS Support: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Breaks language and literacy barriers by reading content aloud in multiple languages.</a:t>
            </a:r>
          </a:p>
          <a:p>
            <a:pPr marL="76200" indent="0">
              <a:buNone/>
            </a:pPr>
            <a:r>
              <a:rPr lang="en-US" sz="1800" b="1" u="sng" dirty="0">
                <a:latin typeface="Cambria" panose="02040503050406030204" pitchFamily="18" charset="0"/>
                <a:ea typeface="Cambria" panose="02040503050406030204" pitchFamily="18" charset="0"/>
              </a:rPr>
              <a:t>Feasibility Study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Technical Feasibility: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The chosen tech stack (React.js, Node.js, MongoDB) is mature, well-documented, and has strong community support. PWA technology is stable and proven. Required APIs (TTS) are readily available.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Economic Feasibility: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The project uses open-source technologies, minimizing software costs. Deployment on cloud platforms like AWS/GCP offers a pay-as-you-go model, keeping operational costs low and scalable. This aligns with the non-profit, social welfare goals of the partnering ministry.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39306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6997B8-58CC-4087-B94F-E5AE2FEE2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60" y="1110836"/>
            <a:ext cx="8710368" cy="459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 continue…….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 system architecture follows a modern 3-Tier Web Application model: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Presentation Layer (Frontend):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React.js Progressive Web App (PWA) that runs on the user's browser/device. It is responsible for the accessible user interface, rendering job listings, training content, and interacting with the backend via RESTful APIs.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Application Layer (Backend):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Node.js + Express.js server. It handles all business logic: user authentication (via JWT), processing job search requests, managing training modules, and serving content to the frontend. It acts as an intermediary between the frontend and the database.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Layer: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MongoDB database stores all persistent data, including user profiles, job listings, training materials, and application tracking data.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Key Components: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Authentication Service</a:t>
            </a:r>
            <a:r>
              <a:rPr lang="en-US" u="sng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Manages user logins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Guardians, Admin) using JWT.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Job Processing Engine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Fetches, filters, and categorizes job data from sources.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TTS Service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Integrates with a Text-to-Speech API to convert text content to audio.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Cloud Hosting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The entire application is deployed on a cloud provider (AWS/GCP) for reliability and scalability.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293B-831B-8CC3-D881-84AFB0DF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01489-9BF4-9780-4CF4-F9A06B125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User Authentication Module: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Handles secure registration and login for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PwDs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Guardians using JWT.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Profile Management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Allows users to create and manage their profiles, specifying disability type, skills, and job preferences.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Job Search &amp; Listing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The core module to browse, search, and filter job opportunities specifically based on reservation categories and disability type.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Training &amp; Coaching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Provides access to skill development videos, mock tests, and application guidance resources.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Accessibility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Integrates TTS functionality, language selection, and ensures UI compliance with accessibility standards.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Notification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Alerts users and guardians about new job postings, application deadlines, and new training content.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Admin Portal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Allows the admin to post new jobs, manage training content, and oversee user accounts.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0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1830-9627-1487-A166-456852D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39DD4-1E03-1EEC-588D-E557FBC85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70E9D-3FA9-B376-C3AF-C201B0219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76" y="1143001"/>
            <a:ext cx="1002384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0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B7B3-1065-9602-4615-23C8A6F2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&amp; Software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180891-49FC-042F-9F4B-5B03BD41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90795"/>
              </p:ext>
            </p:extLst>
          </p:nvPr>
        </p:nvGraphicFramePr>
        <p:xfrm>
          <a:off x="1018094" y="1395168"/>
          <a:ext cx="5929460" cy="4366967"/>
        </p:xfrm>
        <a:graphic>
          <a:graphicData uri="http://schemas.openxmlformats.org/drawingml/2006/table">
            <a:tbl>
              <a:tblPr firstRow="1" firstCol="1" bandRow="1"/>
              <a:tblGrid>
                <a:gridCol w="1768447">
                  <a:extLst>
                    <a:ext uri="{9D8B030D-6E8A-4147-A177-3AD203B41FA5}">
                      <a16:colId xmlns:a16="http://schemas.microsoft.com/office/drawing/2014/main" val="585846117"/>
                    </a:ext>
                  </a:extLst>
                </a:gridCol>
                <a:gridCol w="4161013">
                  <a:extLst>
                    <a:ext uri="{9D8B030D-6E8A-4147-A177-3AD203B41FA5}">
                      <a16:colId xmlns:a16="http://schemas.microsoft.com/office/drawing/2014/main" val="3065037968"/>
                    </a:ext>
                  </a:extLst>
                </a:gridCol>
              </a:tblGrid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Category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Details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123539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Frontend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React.js (PWA), HTML5, CSS3, JavaScript (ES6+)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041548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Backend	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Node.js, Express.js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933495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Database	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MongoDB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108678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Authentication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JWT (JSON Web Tokens)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92348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Version Control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Git, GitHub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285318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Development Tools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VS Code, Postman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433646"/>
                  </a:ext>
                </a:extLst>
              </a:tr>
              <a:tr h="43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Hosting Platform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AWS EC2 / S3 or Google Cloud Platform (GCP)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973899"/>
                  </a:ext>
                </a:extLst>
              </a:tr>
              <a:tr h="8894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End-User Hardware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Smartphones, Tablets, Desktops/Laptops with a modern browser (Chrome, Edge, Firefox) and internet connection.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79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1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8581-8481-6E8B-E8FF-8FAB28AD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771E-F13B-F105-D9E1-00BD4D3E7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Ministry of Statistics and Programme Implementation. (2021). Report on Persons with Disabilities in India.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Government of India. (2016). The Rights of Persons with Disabilities Act.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World Health Organization. (2019). Global Report on Disability.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Dr. D. P. Sharma, "Digital Inclusion of PwDs in India," in IEEE Access, vol. 10, 2022.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S. Gupta, "Inclusive Employment Platforms for Persons with Disabilities," Springer,021.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Darcy, S., &amp; Taylor, T. (2009). Disability citizenship and digital capital: The case of web accessibility.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Lazar, J., et al. (2015). What Frustrates Screen Reader Users on the Web: A Study of 100 Blind Users.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Bühler, C., &amp; Heck, H. (2001). Empowerment by Digital Media of People with Disabilities.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Kumar, A., &amp; Singh, P. (2020). A Study on Challenges Faced by Persons with Disabilities in India in Accessing Employment.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W3C Web Accessibility Initiative (WAI). Web Content Accessibility Guidelines (WCAG) 2.1.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624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49A5-6ADC-2BCB-5706-768A919F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References continue…..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FFDCA-165A-0D73-C8A8-3BB2F1E84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952500"/>
            <a:ext cx="10668000" cy="5231484"/>
          </a:xfrm>
        </p:spPr>
        <p:txBody>
          <a:bodyPr>
            <a:noAutofit/>
          </a:bodyPr>
          <a:lstStyle/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W3C: Introduction to Web Accessibility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WebAIM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: Screen Reader User Survey #9 (2021)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MDN Web Docs: ARIA Basics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The A11Y Project: Resources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UK Government: Dos and don'ts on designing for accessibility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Google Developers: Progressive Web Apps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MDN Web Docs: Progressive Web Apps (PWAs)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Microsoft: Progressive Web Apps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International </a:t>
            </a: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Labour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 Organization (ILO): Disability and work in India</a:t>
            </a: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W3C: Introduction to Web Accessibility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 err="1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WebAIM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: Screen Reader User Survey #9 (2021)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MDN Web Docs: ARIA Basics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The A11Y Project: Resources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800" u="sng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UK Government: Dos and don'ts on designing for accessibility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lvl="0" indent="-342900">
              <a:buFont typeface="+mj-lt"/>
              <a:buAutoNum type="arabicPeriod"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19100" indent="-342900">
              <a:buFont typeface="+mj-lt"/>
              <a:buAutoNum type="arabicPeriod"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13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3E7B-5F0F-6913-329E-A0B82DC2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6CDC8-73D3-7B0E-E404-5A08B9FF9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Google Developers: Progressive Web Apps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MDN Web Docs: Progressive Web Apps (PWAs)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Microsoft: Progressive Web Apps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International </a:t>
            </a:r>
            <a:r>
              <a:rPr lang="en-US" sz="1600" u="sng" dirty="0" err="1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Labour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 Organization (ILO): Disability and work in India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NCPEDP (National Centre for Promotion of Employment for Disabled People)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India Spend: Why India’s Disabled Are Excluded From The World’s Largest Jobs </a:t>
            </a:r>
            <a:r>
              <a:rPr lang="en-US" sz="1600" u="sng" dirty="0" err="1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Programme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 (2019)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The Journal of Indian Business Research: Employability of Persons with Disabilities in India (2020)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Disabled Peoples' International (DPI): India Chapter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Nielsen Norman Group: Accessibility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ACM SIGACCESS: Conference on Computers and Accessibility (ASSETS)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2"/>
              </a:rPr>
              <a:t>Department of Empowerment of Persons with Disabilities (</a:t>
            </a:r>
            <a:r>
              <a:rPr lang="en-US" sz="1600" u="sng" dirty="0" err="1">
                <a:latin typeface="Cambria" panose="02040503050406030204" pitchFamily="18" charset="0"/>
                <a:ea typeface="Cambria" panose="02040503050406030204" pitchFamily="18" charset="0"/>
                <a:hlinkClick r:id="rId12"/>
              </a:rPr>
              <a:t>Divyangjan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2"/>
              </a:rPr>
              <a:t>), Ministry of Social Justice and Empowerment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3"/>
              </a:rPr>
              <a:t>National Portal of India: Rights of Persons with Disabilities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4"/>
              </a:rPr>
              <a:t>Unique Identification Authority of India (UIDAI): Disability Data from Census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5"/>
              </a:rPr>
              <a:t>Accessible India Campaign (</a:t>
            </a:r>
            <a:r>
              <a:rPr lang="en-US" sz="1600" u="sng" dirty="0" err="1">
                <a:latin typeface="Cambria" panose="02040503050406030204" pitchFamily="18" charset="0"/>
                <a:ea typeface="Cambria" panose="02040503050406030204" pitchFamily="18" charset="0"/>
                <a:hlinkClick r:id="rId15"/>
              </a:rPr>
              <a:t>Sugamya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5"/>
              </a:rPr>
              <a:t> Bharat Abhiyan)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lvl="0" indent="-457200">
              <a:buFont typeface="+mj-lt"/>
              <a:buAutoNum type="arabicPeriod"/>
            </a:pP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16"/>
              </a:rPr>
              <a:t>World Bank: Disability Inclusion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41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15" ma:contentTypeDescription="Create a new document." ma:contentTypeScope="" ma:versionID="f9564cd3baf113e1b1e3e34a23e76c19">
  <xsd:schema xmlns:xsd="http://www.w3.org/2001/XMLSchema" xmlns:xs="http://www.w3.org/2001/XMLSchema" xmlns:p="http://schemas.microsoft.com/office/2006/metadata/properties" xmlns:ns3="d450f434-8884-451b-956f-1819749fd748" xmlns:ns4="4030240f-fb25-4c49-b689-432e13a901d7" targetNamespace="http://schemas.microsoft.com/office/2006/metadata/properties" ma:root="true" ma:fieldsID="515a470f1d9ff01546ffcc7de91268d3" ns3:_="" ns4:_="">
    <xsd:import namespace="d450f434-8884-451b-956f-1819749fd748"/>
    <xsd:import namespace="4030240f-fb25-4c49-b689-432e13a901d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30240f-fb25-4c49-b689-432e13a901d7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Props1.xml><?xml version="1.0" encoding="utf-8"?>
<ds:datastoreItem xmlns:ds="http://schemas.openxmlformats.org/officeDocument/2006/customXml" ds:itemID="{6095EDBB-3B03-4F2E-A264-6614D63739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4030240f-fb25-4c49-b689-432e13a901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E2A0FE-03DD-4B76-A985-73BB41F56F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B2345D-30DC-46CC-BDBA-ADE435C10B6F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4030240f-fb25-4c49-b689-432e13a901d7"/>
    <ds:schemaRef ds:uri="d450f434-8884-451b-956f-1819749fd74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1856</Words>
  <Application>Microsoft Office PowerPoint</Application>
  <PresentationFormat>Widescreen</PresentationFormat>
  <Paragraphs>183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Bookman Old Style</vt:lpstr>
      <vt:lpstr>Calibri</vt:lpstr>
      <vt:lpstr>Cambria</vt:lpstr>
      <vt:lpstr>Times New Roman</vt:lpstr>
      <vt:lpstr>Verdana</vt:lpstr>
      <vt:lpstr>Wingdings</vt:lpstr>
      <vt:lpstr>Bioinformatics</vt:lpstr>
      <vt:lpstr>UDYOG SAARTHI APP (PROGRESSIVE WEB-BASED APPLICATION)</vt:lpstr>
      <vt:lpstr>Content</vt:lpstr>
      <vt:lpstr>Problem Statement Number: PSCS-39 </vt:lpstr>
      <vt:lpstr>Literature Survey</vt:lpstr>
      <vt:lpstr>Objectives</vt:lpstr>
      <vt:lpstr>Existing methods &amp; Drawbacks </vt:lpstr>
      <vt:lpstr>Proposed method &amp; Feasibility study</vt:lpstr>
      <vt:lpstr>Architecture Diagram</vt:lpstr>
      <vt:lpstr>Architecture Diagram continue…….</vt:lpstr>
      <vt:lpstr>Modules</vt:lpstr>
      <vt:lpstr>Timeline </vt:lpstr>
      <vt:lpstr>Hardware &amp; Software</vt:lpstr>
      <vt:lpstr>References</vt:lpstr>
      <vt:lpstr>References continue…..</vt:lpstr>
      <vt:lpstr>References continue…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HITHA R N</cp:lastModifiedBy>
  <cp:revision>44</cp:revision>
  <dcterms:modified xsi:type="dcterms:W3CDTF">2025-09-26T04:32:20Z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